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07444ee3b6441c" /><Relationship Type="http://schemas.openxmlformats.org/officeDocument/2006/relationships/extended-properties" Target="/docProps/app.xml" Id="R667e04ae41054ed2" /><Relationship Type="http://schemas.openxmlformats.org/officeDocument/2006/relationships/officeDocument" Target="/ppt/presentation.xml" Id="Rb6646209a87e45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ec2277572f4a59"/>
  </p:sldMasterIdLst>
  <p:notesMasterIdLst>
    <p:notesMasterId xmlns:r="http://schemas.openxmlformats.org/officeDocument/2006/relationships" r:id="Re90fe2b72795480b"/>
  </p:notesMasterIdLst>
  <p:sldIdLst>
    <p:sldId xmlns:r="http://schemas.openxmlformats.org/officeDocument/2006/relationships" id="256" r:id="R4e5ad1b5be5e4baa"/>
    <p:sldId xmlns:r="http://schemas.openxmlformats.org/officeDocument/2006/relationships" id="257" r:id="Rb0dfa7ea52444c26"/>
    <p:sldId xmlns:r="http://schemas.openxmlformats.org/officeDocument/2006/relationships" id="258" r:id="R5b08ce85cd7f4361"/>
    <p:sldId xmlns:r="http://schemas.openxmlformats.org/officeDocument/2006/relationships" id="259" r:id="Rf260eb4bfc364289"/>
    <p:sldId xmlns:r="http://schemas.openxmlformats.org/officeDocument/2006/relationships" id="260" r:id="R85f225af0bfd4d71"/>
    <p:sldId xmlns:r="http://schemas.openxmlformats.org/officeDocument/2006/relationships" id="261" r:id="Re1e8431fbfce4cd8"/>
    <p:sldId xmlns:r="http://schemas.openxmlformats.org/officeDocument/2006/relationships" id="262" r:id="R2eb9b718fc82486d"/>
    <p:sldId xmlns:r="http://schemas.openxmlformats.org/officeDocument/2006/relationships" id="263" r:id="R64abd295bf9340d0"/>
    <p:sldId xmlns:r="http://schemas.openxmlformats.org/officeDocument/2006/relationships" id="264" r:id="R016f766e27b846b9"/>
    <p:sldId xmlns:r="http://schemas.openxmlformats.org/officeDocument/2006/relationships" id="265" r:id="R7f8dc4bd5b0b408f"/>
    <p:sldId xmlns:r="http://schemas.openxmlformats.org/officeDocument/2006/relationships" id="266" r:id="Rcfa0f2b499c945ec"/>
    <p:sldId xmlns:r="http://schemas.openxmlformats.org/officeDocument/2006/relationships" id="267" r:id="R5c74609214574e65"/>
    <p:sldId xmlns:r="http://schemas.openxmlformats.org/officeDocument/2006/relationships" id="268" r:id="R99b6074a32b549cb"/>
    <p:sldId xmlns:r="http://schemas.openxmlformats.org/officeDocument/2006/relationships" id="269" r:id="R5bbf16f3714a4ff1"/>
    <p:sldId xmlns:r="http://schemas.openxmlformats.org/officeDocument/2006/relationships" id="270" r:id="R8338b3f6aaf942e5"/>
    <p:sldId xmlns:r="http://schemas.openxmlformats.org/officeDocument/2006/relationships" id="271" r:id="R53344269533240f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46dd528fdd446e" /><Relationship Type="http://schemas.openxmlformats.org/officeDocument/2006/relationships/slideMaster" Target="/ppt/slideMasters/slideMaster1.xml" Id="R17ec2277572f4a59" /><Relationship Type="http://schemas.openxmlformats.org/officeDocument/2006/relationships/notesMaster" Target="/ppt/notesMasters/notesMaster1.xml" Id="Re90fe2b72795480b" /><Relationship Type="http://schemas.openxmlformats.org/officeDocument/2006/relationships/presProps" Target="/ppt/presProps.xml" Id="Ra1d3e85459964989" /><Relationship Type="http://schemas.openxmlformats.org/officeDocument/2006/relationships/tableStyles" Target="/ppt/tableStyles.xml" Id="Rd2dc478707ef42ec" /><Relationship Type="http://schemas.openxmlformats.org/officeDocument/2006/relationships/slide" Target="/ppt/slides/slide1.xml" Id="R4e5ad1b5be5e4baa" /><Relationship Type="http://schemas.openxmlformats.org/officeDocument/2006/relationships/slide" Target="/ppt/slides/slide2.xml" Id="Rb0dfa7ea52444c26" /><Relationship Type="http://schemas.openxmlformats.org/officeDocument/2006/relationships/slide" Target="/ppt/slides/slide3.xml" Id="R5b08ce85cd7f4361" /><Relationship Type="http://schemas.openxmlformats.org/officeDocument/2006/relationships/slide" Target="/ppt/slides/slide4.xml" Id="Rf260eb4bfc364289" /><Relationship Type="http://schemas.openxmlformats.org/officeDocument/2006/relationships/slide" Target="/ppt/slides/slide5.xml" Id="R85f225af0bfd4d71" /><Relationship Type="http://schemas.openxmlformats.org/officeDocument/2006/relationships/slide" Target="/ppt/slides/slide6.xml" Id="Re1e8431fbfce4cd8" /><Relationship Type="http://schemas.openxmlformats.org/officeDocument/2006/relationships/slide" Target="/ppt/slides/slide7.xml" Id="R2eb9b718fc82486d" /><Relationship Type="http://schemas.openxmlformats.org/officeDocument/2006/relationships/slide" Target="/ppt/slides/slide8.xml" Id="R64abd295bf9340d0" /><Relationship Type="http://schemas.openxmlformats.org/officeDocument/2006/relationships/slide" Target="/ppt/slides/slide9.xml" Id="R016f766e27b846b9" /><Relationship Type="http://schemas.openxmlformats.org/officeDocument/2006/relationships/slide" Target="/ppt/slides/slide10.xml" Id="R7f8dc4bd5b0b408f" /><Relationship Type="http://schemas.openxmlformats.org/officeDocument/2006/relationships/slide" Target="/ppt/slides/slide11.xml" Id="Rcfa0f2b499c945ec" /><Relationship Type="http://schemas.openxmlformats.org/officeDocument/2006/relationships/slide" Target="/ppt/slides/slide12.xml" Id="R5c74609214574e65" /><Relationship Type="http://schemas.openxmlformats.org/officeDocument/2006/relationships/slide" Target="/ppt/slides/slide13.xml" Id="R99b6074a32b549cb" /><Relationship Type="http://schemas.openxmlformats.org/officeDocument/2006/relationships/slide" Target="/ppt/slides/slide14.xml" Id="R5bbf16f3714a4ff1" /><Relationship Type="http://schemas.openxmlformats.org/officeDocument/2006/relationships/slide" Target="/ppt/slides/slide15.xml" Id="R8338b3f6aaf942e5" /><Relationship Type="http://schemas.openxmlformats.org/officeDocument/2006/relationships/slide" Target="/ppt/slides/slide16.xml" Id="R53344269533240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e477ad32ae4f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c0de0744d040de" /><Relationship Type="http://schemas.openxmlformats.org/officeDocument/2006/relationships/notesMaster" Target="/ppt/notesMasters/notesMaster1.xml" Id="R6ad7c58f8bbd43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0f9022f9d043c2" /><Relationship Type="http://schemas.openxmlformats.org/officeDocument/2006/relationships/notesMaster" Target="/ppt/notesMasters/notesMaster1.xml" Id="R9488ebe3427a45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0d6011adb345f7" /><Relationship Type="http://schemas.openxmlformats.org/officeDocument/2006/relationships/notesMaster" Target="/ppt/notesMasters/notesMaster1.xml" Id="R81d5222344c942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b90b4b27f046f5" /><Relationship Type="http://schemas.openxmlformats.org/officeDocument/2006/relationships/notesMaster" Target="/ppt/notesMasters/notesMaster1.xml" Id="Re9ff3b1874d548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7b14272cc54d20" /><Relationship Type="http://schemas.openxmlformats.org/officeDocument/2006/relationships/notesMaster" Target="/ppt/notesMasters/notesMaster1.xml" Id="Racda88d7259d42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967dfd953b4ac7" /><Relationship Type="http://schemas.openxmlformats.org/officeDocument/2006/relationships/notesMaster" Target="/ppt/notesMasters/notesMaster1.xml" Id="R8457a7cfd8854b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67cb7027334ae1" /><Relationship Type="http://schemas.openxmlformats.org/officeDocument/2006/relationships/notesMaster" Target="/ppt/notesMasters/notesMaster1.xml" Id="R21e510b2782c46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4702cdb9b14b45" /><Relationship Type="http://schemas.openxmlformats.org/officeDocument/2006/relationships/notesMaster" Target="/ppt/notesMasters/notesMaster1.xml" Id="Rc24a25ee869c49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3ac3edc0da47d9" /><Relationship Type="http://schemas.openxmlformats.org/officeDocument/2006/relationships/notesMaster" Target="/ppt/notesMasters/notesMaster1.xml" Id="R3c82d3177f514e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5d46254d5b4133" /><Relationship Type="http://schemas.openxmlformats.org/officeDocument/2006/relationships/notesMaster" Target="/ppt/notesMasters/notesMaster1.xml" Id="R7e54c4585a1c40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d91220559e4685" /><Relationship Type="http://schemas.openxmlformats.org/officeDocument/2006/relationships/notesMaster" Target="/ppt/notesMasters/notesMaster1.xml" Id="Rbc7c54becee349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4fd14acc4b48d1" /><Relationship Type="http://schemas.openxmlformats.org/officeDocument/2006/relationships/notesMaster" Target="/ppt/notesMasters/notesMaster1.xml" Id="Rca42e18b66884d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35cfb666c54530" /><Relationship Type="http://schemas.openxmlformats.org/officeDocument/2006/relationships/notesMaster" Target="/ppt/notesMasters/notesMaster1.xml" Id="R865d09055cac4d1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d4a507080747df" /><Relationship Type="http://schemas.openxmlformats.org/officeDocument/2006/relationships/notesMaster" Target="/ppt/notesMasters/notesMaster1.xml" Id="Rdc4261607ac24c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c605172f7de4139" /><Relationship Type="http://schemas.openxmlformats.org/officeDocument/2006/relationships/notesMaster" Target="/ppt/notesMasters/notesMaster1.xml" Id="Ra590145d46f342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339310d604b4507" /><Relationship Type="http://schemas.openxmlformats.org/officeDocument/2006/relationships/notesMaster" Target="/ppt/notesMasters/notesMaster1.xml" Id="R56eeb8b90b234f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7ee1b5808043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5c4377f45f4c15" /><Relationship Type="http://schemas.openxmlformats.org/officeDocument/2006/relationships/slideLayout" Target="/ppt/slideLayouts/slideLayout1.xml" Id="R9d9e94d2cf924f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9e94d2cf924f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dba6e83204299" /><Relationship Type="http://schemas.openxmlformats.org/officeDocument/2006/relationships/image" Target="/ppt/media/image.jpeg" Id="Rb33e189c9440434f" /><Relationship Type="http://schemas.openxmlformats.org/officeDocument/2006/relationships/notesSlide" Target="/ppt/notesSlides/notesSlide1.xml" Id="Rb659641e0bec46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e81ef94e948e1" /><Relationship Type="http://schemas.openxmlformats.org/officeDocument/2006/relationships/notesSlide" Target="/ppt/notesSlides/notesSlide2.xml" Id="R19b8160131d14b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8458ceb534232" /><Relationship Type="http://schemas.openxmlformats.org/officeDocument/2006/relationships/notesSlide" Target="/ppt/notesSlides/notesSlide3.xml" Id="Red3ea116d81543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e876a7aa14ddb" /><Relationship Type="http://schemas.openxmlformats.org/officeDocument/2006/relationships/notesSlide" Target="/ppt/notesSlides/notesSlide4.xml" Id="R7b5eb4b645764c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570c7d1484117" /><Relationship Type="http://schemas.openxmlformats.org/officeDocument/2006/relationships/image" Target="/ppt/media/image.png" Id="Rce3da72f27b742a0" /><Relationship Type="http://schemas.openxmlformats.org/officeDocument/2006/relationships/notesSlide" Target="/ppt/notesSlides/notesSlide5.xml" Id="Rcb497aafd5924c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f5ba93bf54aac" /><Relationship Type="http://schemas.openxmlformats.org/officeDocument/2006/relationships/notesSlide" Target="/ppt/notesSlides/notesSlide6.xml" Id="R52c5308b9e7b4e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921d49cb44c74" /><Relationship Type="http://schemas.openxmlformats.org/officeDocument/2006/relationships/image" Target="/ppt/media/image2.png" Id="R74e309d19dc84613" /><Relationship Type="http://schemas.openxmlformats.org/officeDocument/2006/relationships/image" Target="/ppt/media/image3.png" Id="R53f46479912f433f" /><Relationship Type="http://schemas.openxmlformats.org/officeDocument/2006/relationships/image" Target="/ppt/media/image4.png" Id="R77aa4b29e44a4556" /><Relationship Type="http://schemas.openxmlformats.org/officeDocument/2006/relationships/notesSlide" Target="/ppt/notesSlides/notesSlide7.xml" Id="Rc80a56163df746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ac3e7178f4d88" /><Relationship Type="http://schemas.openxmlformats.org/officeDocument/2006/relationships/notesSlide" Target="/ppt/notesSlides/notesSlide8.xml" Id="R5b3a4a68b61045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4f773b78a44c7" /><Relationship Type="http://schemas.openxmlformats.org/officeDocument/2006/relationships/image" Target="/ppt/media/image5.png" Id="R850eca6962d945be" /><Relationship Type="http://schemas.openxmlformats.org/officeDocument/2006/relationships/image" Target="/ppt/media/image6.png" Id="R276fc7204cac4459" /><Relationship Type="http://schemas.openxmlformats.org/officeDocument/2006/relationships/notesSlide" Target="/ppt/notesSlides/notesSlide9.xml" Id="R800f4ac452c54f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cb1e36c8641c0" /><Relationship Type="http://schemas.openxmlformats.org/officeDocument/2006/relationships/image" Target="/ppt/media/image7.png" Id="Rc51b7da2a51c46cb" /><Relationship Type="http://schemas.openxmlformats.org/officeDocument/2006/relationships/notesSlide" Target="/ppt/notesSlides/notesSlide10.xml" Id="R962e8d90f61d46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a711e8e5c459e" /><Relationship Type="http://schemas.openxmlformats.org/officeDocument/2006/relationships/image" Target="/ppt/media/image8.png" Id="Rd8129c796ff1494f" /><Relationship Type="http://schemas.openxmlformats.org/officeDocument/2006/relationships/image" Target="/ppt/media/image9.png" Id="R00e6971fa8014cc2" /><Relationship Type="http://schemas.openxmlformats.org/officeDocument/2006/relationships/notesSlide" Target="/ppt/notesSlides/notesSlide11.xml" Id="R231ee7d8b6aa4a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14c2ffe55476c" /><Relationship Type="http://schemas.openxmlformats.org/officeDocument/2006/relationships/image" Target="/ppt/media/image10.png" Id="R77fbcee137a0441f" /><Relationship Type="http://schemas.openxmlformats.org/officeDocument/2006/relationships/image" Target="/ppt/media/image11.png" Id="Rc4e5cce416f64d95" /><Relationship Type="http://schemas.openxmlformats.org/officeDocument/2006/relationships/notesSlide" Target="/ppt/notesSlides/notesSlide12.xml" Id="Rc0b96a15df8345f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07c2d5b564d96" /><Relationship Type="http://schemas.openxmlformats.org/officeDocument/2006/relationships/image" Target="/ppt/media/image12.png" Id="R913924ebb81e4151" /><Relationship Type="http://schemas.openxmlformats.org/officeDocument/2006/relationships/notesSlide" Target="/ppt/notesSlides/notesSlide13.xml" Id="Rac1042d5d12446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1254cbc73453c" /><Relationship Type="http://schemas.openxmlformats.org/officeDocument/2006/relationships/notesSlide" Target="/ppt/notesSlides/notesSlide14.xml" Id="Rd17708cfe71b40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60f95a5c84fee" /><Relationship Type="http://schemas.openxmlformats.org/officeDocument/2006/relationships/notesSlide" Target="/ppt/notesSlides/notesSlide15.xml" Id="Rb734854726ad4eb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bf035a74b4ba6" /><Relationship Type="http://schemas.openxmlformats.org/officeDocument/2006/relationships/notesSlide" Target="/ppt/notesSlides/notesSlide16.xml" Id="R73138213403d44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756682-904E-4B3E-AE98-1D286E16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6713"/>
          </a:solidFill>
          <a:ln xmlns:a="http://schemas.openxmlformats.org/drawingml/2006/main" w="9525">
            <a:solidFill>
              <a:srgbClr val="8E6713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e189c9440434f"/>
          <a:stretch xmlns:a="http://schemas.openxmlformats.org/drawingml/2006/main"/>
        </p:blipFill>
        <p:spPr>
          <a:xfrm xmlns:a="http://schemas.openxmlformats.org/drawingml/2006/main">
            <a:off x="10844759" y="247650"/>
            <a:ext cx="856158" cy="400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02348-FF4B-419F-BC2C-0BADCDAB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Multi-Criteria Sustainability Optimisation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of Floor Slabs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59D15-0E0A-46DF-BBB9-64646C82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Beyond Structural Performance in Early-Stage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3783A-2EF0-4C3F-AB5A-D4C806FB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Jonathan Bieg</a:t>
            </a:r>
          </a:p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Master Thesis - Final Presentation</a:t>
            </a:r>
          </a:p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29 June 2026</a:t>
            </a:r>
          </a:p>
        </p:txBody>
      </p:sp>
    </p:spTree>
    <p:extLst>
      <p:ext uri="{BB962C8B-B14F-4D97-AF65-F5344CB8AC3E}">
        <p14:creationId xmlns:p14="http://schemas.microsoft.com/office/powerpoint/2010/main" val="125294302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0F8B49-653A-4204-8B3D-A45E8D6B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Table of content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261D8-1CF4-4E4F-857D-214B3D76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Institute of Structural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81510-F623-44C8-A78D-7DAF0865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Multi-criteria sustainability optimisation of floor slabs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559AC-885A-4EB1-B500-B1A7147E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00A3F-B0F0-45F3-B0FE-431C2385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AE93A-DC43-4179-8024-E55A3402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811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89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894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36BC2-FD39-42F3-BB5D-921F091E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954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Objective and contribution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17BE6-6A85-49C2-8C05-E64B09C5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98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94F0D-109D-44BE-A5D1-BA0BBB56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Results and discussion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3B48C-EBAA-4569-B7AE-97D6E489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385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57329-95D1-47AC-B1C0-043D9F15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Outlook</a:t>
            </a:r>
          </a:p>
        </p:txBody>
      </p:sp>
    </p:spTree>
    <p:extLst>
      <p:ext uri="{BB962C8B-B14F-4D97-AF65-F5344CB8AC3E}">
        <p14:creationId xmlns:p14="http://schemas.microsoft.com/office/powerpoint/2010/main" val="8899413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49568B-3B5C-489F-A09A-77241948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Introduction - Challenge for the construction industry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4974B-1F36-46CF-A4CC-D4C66996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Institute of Structural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D93B9-1EDD-4546-904D-0FF4C134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D94C6-DB97-4EF3-AB86-4AF6BB5A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C5476-8B34-4A5F-829C-770AB6F5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74F67-B569-44B0-9F12-18C53032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89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894"/>
                </a:solidFill>
                <a:latin typeface="Arial"/>
                <a:ea typeface="Arial"/>
                <a:cs typeface="Arial"/>
              </a:rPr>
              <a:t>Why floor systems matter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6CE33-E402-48FE-B03C-7255E8ED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4476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- Buildings are a major source of material demand and emissions.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- Floor slabs repeat over many storeys and strongly influence mass, height and construction process.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- Early design decisions lock in much of the later sustainability performance.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5033A-1921-49FC-B7E8-DBDCA0F2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0490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72458-C3B5-49B4-BDC5-6432334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04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E67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E6713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9946A-07E5-48F9-9165-63DBB534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33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Make floor-system selection comparable beyond structural performance alone.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3AEEA-72D9-497B-9621-37414391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4333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468"/>
                </a:solidFill>
                <a:latin typeface="Arial"/>
                <a:ea typeface="Arial"/>
                <a:cs typeface="Arial"/>
              </a:rPr>
              <a:t>Sustainability is assessed through GWP, cost, construction time, height and mass while all required structural and functional criteria are fulfilled.</a:t>
            </a:r>
          </a:p>
        </p:txBody>
      </p:sp>
    </p:spTree>
    <p:extLst>
      <p:ext uri="{BB962C8B-B14F-4D97-AF65-F5344CB8AC3E}">
        <p14:creationId xmlns:p14="http://schemas.microsoft.com/office/powerpoint/2010/main" val="17972004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544962-93CE-4CD6-9364-975402C7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Objective and research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1AD4C-D068-42C2-BFFD-94A4FCA5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Institute of Structural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28C0D-404C-46B1-90E0-7A6C3203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7DA9F-AC64-4AB6-816B-50D32560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0F901-D3AF-49F7-A381-299E2098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D53C5-6D07-400C-A046-2A333DD4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89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894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B2E1A-AF0E-4EA1-BFE6-DE815157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Assess the sustainability impact of choosing a floor system for residential and office buildings in early-stage design.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AEA2F-DD13-4A9F-A441-B112DF7E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3000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CB8E6-E826-4F10-B624-140D8532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E671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E671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4FF6A-E31A-43D0-93D4-1F6FDB2F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252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assessment criteria are relevant for early-stage floor-system comparison?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DD1FB-00DD-4202-8995-7E1A431C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3000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75549-8EC7-47C4-B284-30E44941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E671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E671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E6B93-BE95-46F0-8583-9AE67347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86125"/>
            <a:ext cx="252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systems perform favourably when structural and functional requirements are respected?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27A56-1951-4FA9-A811-A7353869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76500"/>
            <a:ext cx="3000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ABEA0-E69F-4262-9DBF-7F804115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E671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E671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A2CED-2ADB-4641-A08E-AC0E5D8F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86125"/>
            <a:ext cx="252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do Global Warming Potential and construction cost align or conflict?</a:t>
            </a:r>
          </a:p>
        </p:txBody>
      </p:sp>
    </p:spTree>
    <p:extLst>
      <p:ext uri="{BB962C8B-B14F-4D97-AF65-F5344CB8AC3E}">
        <p14:creationId xmlns:p14="http://schemas.microsoft.com/office/powerpoint/2010/main" val="6888972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870057-3002-4AC6-9569-F84FF6FA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Methodology - Slab configurator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2BECE-B4F1-4556-A19D-77B404F2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Institute of Structural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46B19-E3BD-41C2-BF9D-2B2B5E29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67C0D-CB3A-4964-81F8-18CF6DB5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C1198-A25A-4BFD-BC55-9E7EBF11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da72f27b742a0"/>
          <a:stretch xmlns:a="http://schemas.openxmlformats.org/drawingml/2006/main"/>
        </p:blipFill>
        <p:spPr>
          <a:xfrm xmlns:a="http://schemas.openxmlformats.org/drawingml/2006/main">
            <a:off x="666750" y="2160872"/>
            <a:ext cx="7334250" cy="219335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EB0FB-24A5-4B51-8DD8-AD29EBE3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0287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94"/>
          </a:solidFill>
          <a:ln xmlns:a="http://schemas.openxmlformats.org/drawingml/2006/main" w="9525">
            <a:solidFill>
              <a:srgbClr val="00789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0DFD5-3AAC-46C2-8D49-AF06DDBC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085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Contribution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F9915-BF08-4753-A4D3-94648CA4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2952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00000"/>
                </a:solidFill>
                <a:latin typeface="Arial"/>
                <a:ea typeface="Arial"/>
                <a:cs typeface="Arial"/>
              </a:rPr>
              <a:t>- Existing Python framework extended for consistent comparison.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00000"/>
                </a:solidFill>
                <a:latin typeface="Arial"/>
                <a:ea typeface="Arial"/>
                <a:cs typeface="Arial"/>
              </a:rPr>
              <a:t>- New floor systems: timber-concrete composite and post-tensioned concrete.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00000"/>
                </a:solidFill>
                <a:latin typeface="Arial"/>
                <a:ea typeface="Arial"/>
                <a:cs typeface="Arial"/>
              </a:rPr>
              <a:t>- Automated acoustic floor build-up handling added.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00000"/>
                </a:solidFill>
                <a:latin typeface="Arial"/>
                <a:ea typeface="Arial"/>
                <a:cs typeface="Arial"/>
              </a:rPr>
              <a:t>- Pairwise comparison ranks systems while accounting for data variation.</a:t>
            </a:r>
          </a:p>
        </p:txBody>
      </p:sp>
    </p:spTree>
    <p:extLst>
      <p:ext uri="{BB962C8B-B14F-4D97-AF65-F5344CB8AC3E}">
        <p14:creationId xmlns:p14="http://schemas.microsoft.com/office/powerpoint/2010/main" val="136666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2C6311-A8BE-4648-AB60-43FFAC10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Methodology - Compared systems and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5E009-5EF7-4619-B39B-D6C7E3B8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Institute of Structural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13317-4A92-4C47-844E-7A38A3C3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BF3A8-E8C2-4E27-865E-7DE945A8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1C2C2-4301-42B5-96BC-E3F69702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7BED9-6C91-444B-A7EA-7D6FF519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30480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6FDEA-B162-4E71-BFF5-19ADAE92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94"/>
          </a:solidFill>
          <a:ln xmlns:a="http://schemas.openxmlformats.org/drawingml/2006/main" w="9525">
            <a:solidFill>
              <a:srgbClr val="00789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EDA90-1D48-4C23-8E2C-4D8FC493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9675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Residential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74984-5FA0-4A8E-834E-303F0EE8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8595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Concrete</a:t>
            </a:r>
          </a:p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Timber</a:t>
            </a:r>
          </a:p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Timber-concrete composite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98E7D-3952-4BF2-BE23-7CAC2020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04900"/>
            <a:ext cx="30480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AC24F-73BC-4C84-ADC7-E833D01F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049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CAF"/>
          </a:solidFill>
          <a:ln xmlns:a="http://schemas.openxmlformats.org/drawingml/2006/main" w="9525">
            <a:solidFill>
              <a:srgbClr val="215C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17DEE-33CE-4D5D-9118-B753716A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209675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Office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23191C-9D1B-4A71-841A-1C2305BC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8595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Concrete systems</a:t>
            </a:r>
          </a:p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Post-tensioned layouts</a:t>
            </a:r>
          </a:p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Ribbed concrete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0206F2-9FE3-4C05-A528-FF42D5A9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04900"/>
            <a:ext cx="30480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D09FA-9C1B-4CCA-B4C0-6F7B57C1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049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6713"/>
          </a:solidFill>
          <a:ln xmlns:a="http://schemas.openxmlformats.org/drawingml/2006/main" w="9525">
            <a:solidFill>
              <a:srgbClr val="8E671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FCC1A-B72F-4A1E-954F-F36E0737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209675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Requirements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F1499-6826-434D-9967-F956B3C7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8595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ULS</a:t>
            </a:r>
          </a:p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Deflection</a:t>
            </a:r>
          </a:p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Vibration</a:t>
            </a:r>
          </a:p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Fire</a:t>
            </a:r>
          </a:p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Acoustics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25AD72-DCF1-4AF5-86A8-2BB3B9A1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19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89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894"/>
                </a:solidFill>
                <a:latin typeface="Arial"/>
                <a:ea typeface="Arial"/>
                <a:cs typeface="Arial"/>
              </a:rPr>
              <a:t>Comparison is performed for complete floor systems, not only the bare structural cross-section.</a:t>
            </a:r>
          </a:p>
        </p:txBody>
      </p:sp>
    </p:spTree>
    <p:extLst>
      <p:ext uri="{BB962C8B-B14F-4D97-AF65-F5344CB8AC3E}">
        <p14:creationId xmlns:p14="http://schemas.microsoft.com/office/powerpoint/2010/main" val="2927891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1FC2F8-64C3-4043-9166-9AFC6410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Methodology - New model components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A1506-05A6-4631-9891-B34E92E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Institute of Structural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7109A-942D-408F-B148-AB240981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8901A-C549-4EE3-A53E-BB30488C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9DFA2-6A45-4D51-9941-4BF888E5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e309d19dc84613"/>
          <a:stretch xmlns:a="http://schemas.openxmlformats.org/drawingml/2006/main"/>
        </p:blipFill>
        <p:spPr>
          <a:xfrm xmlns:a="http://schemas.openxmlformats.org/drawingml/2006/main">
            <a:off x="704850" y="1669578"/>
            <a:ext cx="3143250" cy="1099494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46479912f433f"/>
          <a:stretch xmlns:a="http://schemas.openxmlformats.org/drawingml/2006/main"/>
        </p:blipFill>
        <p:spPr>
          <a:xfrm xmlns:a="http://schemas.openxmlformats.org/drawingml/2006/main">
            <a:off x="4514850" y="1669578"/>
            <a:ext cx="3143250" cy="1099494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a4b29e44a4556"/>
          <a:stretch xmlns:a="http://schemas.openxmlformats.org/drawingml/2006/main"/>
        </p:blipFill>
        <p:spPr>
          <a:xfrm xmlns:a="http://schemas.openxmlformats.org/drawingml/2006/main">
            <a:off x="8578133" y="1257300"/>
            <a:ext cx="1874685" cy="2000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B205BA-0720-433B-AA62-60D0284A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94"/>
          </a:solidFill>
          <a:ln xmlns:a="http://schemas.openxmlformats.org/drawingml/2006/main" w="9525">
            <a:solidFill>
              <a:srgbClr val="00789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6CF45-B438-4CDB-970D-FB8AFD7D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957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TCC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99551-42A3-48C6-82D8-A4E4D482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385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CAF"/>
          </a:solidFill>
          <a:ln xmlns:a="http://schemas.openxmlformats.org/drawingml/2006/main" w="9525">
            <a:solidFill>
              <a:srgbClr val="215C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E3B60-F503-4A0C-B997-E0344886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95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Post-tensioning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AD1FD-A4EA-4FBD-BCDF-203CDF6B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385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6713"/>
          </a:solidFill>
          <a:ln xmlns:a="http://schemas.openxmlformats.org/drawingml/2006/main" w="9525">
            <a:solidFill>
              <a:srgbClr val="8E671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1864D-1B49-4CB3-8517-7D7B9753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957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Floor build-up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4BB3A-0431-4578-BF91-F520FAED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- Semi-rigid composite action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- Flat and ribbed alternatives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75C3B4-FEAF-42AC-94FF-8EAB10BD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95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- Distributed and banded tendons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- Secondary moments and punching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49260-9C23-477E-BD69-F6175D4C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957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- Acoustic requirements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- Mass, height, cost and GWP added</a:t>
            </a:r>
          </a:p>
        </p:txBody>
      </p:sp>
    </p:spTree>
    <p:extLst>
      <p:ext uri="{BB962C8B-B14F-4D97-AF65-F5344CB8AC3E}">
        <p14:creationId xmlns:p14="http://schemas.microsoft.com/office/powerpoint/2010/main" val="130690808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563330-5332-467B-A6E7-2DC955FF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Verification and comparison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11FF9-70B9-4E7B-9D61-0B06A23E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Institute of Structural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932CB-6941-4AF5-AAC8-72F382A1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C6E90-C869-48BF-9614-50F33C09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7C187-FE92-4B7C-A8BD-54F4B0B5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6EB14-7DCD-48FF-A0C7-3ABDCE18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89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94"/>
                </a:solidFill>
                <a:latin typeface="Arial"/>
                <a:ea typeface="Arial"/>
                <a:cs typeface="Arial"/>
              </a:rPr>
              <a:t>Validation before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AD93B-253D-4522-B534-2196A0B0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- Timber-concrete composite stiffness checked against reference calculations.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- Post-tensioned concrete class validated for bending resistance and deflection.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- Acoustic build-up generator checked against Lignum reference constructions.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4F742-1080-42C3-8003-83904B5D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9144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E671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E6713"/>
                </a:solidFill>
                <a:latin typeface="Arial"/>
                <a:ea typeface="Arial"/>
                <a:cs typeface="Arial"/>
              </a:rPr>
              <a:t>Final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AD980-FC3C-42A7-A911-FEAE627D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04950"/>
            <a:ext cx="4191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- Optimise each system with respect to GWP while fulfilling all requirements.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- Evaluate GWP, cost, time, height and mass over relevant span ranges.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- Use envelopes and pairwise scores to handle variation in product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A38E4-D2EE-4D64-814D-E91A6A9B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F59A0-8FC9-4025-8DCF-5AC3092E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0530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Core principle: compare feasible alternatives, not idealised material stereotypes.</a:t>
            </a:r>
          </a:p>
        </p:txBody>
      </p:sp>
    </p:spTree>
    <p:extLst>
      <p:ext uri="{BB962C8B-B14F-4D97-AF65-F5344CB8AC3E}">
        <p14:creationId xmlns:p14="http://schemas.microsoft.com/office/powerpoint/2010/main" val="124236881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DCFDD7-92AE-4C67-831B-624467C3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Results - Residential floor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E22D6-FEA2-4051-852B-902D9000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Institute of Structural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398A3-4493-42DB-B8DF-81177D5B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84442-B887-40EC-B8AA-E1C579C7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8C4D3-2A6E-4CAF-B06B-C6D99104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eca6962d945be"/>
          <a:stretch xmlns:a="http://schemas.openxmlformats.org/drawingml/2006/main"/>
        </p:blipFill>
        <p:spPr>
          <a:xfrm xmlns:a="http://schemas.openxmlformats.org/drawingml/2006/main">
            <a:off x="1812164" y="838200"/>
            <a:ext cx="2652647" cy="257175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fc7204cac4459"/>
          <a:stretch xmlns:a="http://schemas.openxmlformats.org/drawingml/2006/main"/>
        </p:blipFill>
        <p:spPr>
          <a:xfrm xmlns:a="http://schemas.openxmlformats.org/drawingml/2006/main">
            <a:off x="7595328" y="819150"/>
            <a:ext cx="2525844" cy="27813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3F233-6B10-4F99-8164-7FC9B73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9810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- Timber performs favourably at short spans but becomes sensitive to vibration and height.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- Rectangular concrete is balanced at intermediate spans.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- TCC and post-tensioned concrete become competitive at longer spans.</a:t>
            </a:r>
          </a:p>
        </p:txBody>
      </p:sp>
    </p:spTree>
    <p:extLst>
      <p:ext uri="{BB962C8B-B14F-4D97-AF65-F5344CB8AC3E}">
        <p14:creationId xmlns:p14="http://schemas.microsoft.com/office/powerpoint/2010/main" val="19598881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6E893C-2BAE-4A72-968E-7BA63244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Results - Residential application ranges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2B5EC-88D7-42A6-AC7A-770AC1FC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Institute of Structural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2C59D-C949-4D1A-B175-EB870D3C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2F3F1-759D-4C84-A782-B9C021C5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AE7D2-1D5B-4073-A6E5-BC139B73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b7da2a51c46cb"/>
          <a:stretch xmlns:a="http://schemas.openxmlformats.org/drawingml/2006/main"/>
        </p:blipFill>
        <p:spPr>
          <a:xfrm xmlns:a="http://schemas.openxmlformats.org/drawingml/2006/main">
            <a:off x="666750" y="1673971"/>
            <a:ext cx="7239000" cy="259565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4E5BE-70DF-40F2-BB65-026BA1EC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066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89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894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20B2D-201D-4BFA-9012-A1F3F04A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00200"/>
            <a:ext cx="2857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- No single system dominates all spans and criteria.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- Use rectangular timber only where short spans keep height and cost controlled.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- Use concrete or post-tensioned concrete as span increases.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- Flat TCC is a robust compromise across residential spans.</a:t>
            </a:r>
          </a:p>
        </p:txBody>
      </p:sp>
    </p:spTree>
    <p:extLst>
      <p:ext uri="{BB962C8B-B14F-4D97-AF65-F5344CB8AC3E}">
        <p14:creationId xmlns:p14="http://schemas.microsoft.com/office/powerpoint/2010/main" val="106399232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498892-18EA-4038-8D7D-17C8B40D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Results - Office floor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6C33C-3975-4486-BE95-77992C48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Institute of Structural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1245B-D0F1-437E-9E2F-C28BB6D6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0E541-8C54-48AE-B7E5-C9F03455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C2DD8-1338-4E5E-A98B-19E77F65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29c796ff1494f"/>
          <a:stretch xmlns:a="http://schemas.openxmlformats.org/drawingml/2006/main"/>
        </p:blipFill>
        <p:spPr>
          <a:xfrm xmlns:a="http://schemas.openxmlformats.org/drawingml/2006/main">
            <a:off x="1135976" y="838200"/>
            <a:ext cx="4005023" cy="257175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6971fa8014cc2"/>
          <a:stretch xmlns:a="http://schemas.openxmlformats.org/drawingml/2006/main"/>
        </p:blipFill>
        <p:spPr>
          <a:xfrm xmlns:a="http://schemas.openxmlformats.org/drawingml/2006/main">
            <a:off x="7595328" y="819150"/>
            <a:ext cx="2525844" cy="27813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31224-D633-4CFA-BEFC-9D8F601D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9810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- Post-tensioning improves deflection, punching and material demand at larger spans.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- Banded tendons perform best in the current model because tendons align with support strips.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- Ribbed concrete has low GWP and mass, but requires more construction height.</a:t>
            </a:r>
          </a:p>
        </p:txBody>
      </p:sp>
    </p:spTree>
    <p:extLst>
      <p:ext uri="{BB962C8B-B14F-4D97-AF65-F5344CB8AC3E}">
        <p14:creationId xmlns:p14="http://schemas.microsoft.com/office/powerpoint/2010/main" val="198435698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426828-E65E-4448-9D7D-6750D02C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Results - Office application ranges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60B2B-FB41-443A-A080-947D3D7E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Institute of Structural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5E737-EC98-4F7C-84E9-CBBD6566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77119-4529-40AB-9335-D58E2DAE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4320E-2AA0-4F86-8633-8E9A4200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bcee137a0441f"/>
          <a:stretch xmlns:a="http://schemas.openxmlformats.org/drawingml/2006/main"/>
        </p:blipFill>
        <p:spPr>
          <a:xfrm xmlns:a="http://schemas.openxmlformats.org/drawingml/2006/main">
            <a:off x="666750" y="1673971"/>
            <a:ext cx="7239000" cy="259565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5E8C5-5422-4AC5-A9DA-DFB17CF5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066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89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894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E7896-CE92-4841-8404-9EC918C3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00200"/>
            <a:ext cx="295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- Rectangular reinforced concrete is not recommended for the investigated span range.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- Banded post-tensioned concrete provides the best overall balance.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- Ribbed concrete is attractive from approximately 10 m, unless height governs.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5cce416f64d95"/>
          <a:stretch xmlns:a="http://schemas.openxmlformats.org/drawingml/2006/main"/>
        </p:blipFill>
        <p:spPr>
          <a:xfrm xmlns:a="http://schemas.openxmlformats.org/drawingml/2006/main">
            <a:off x="8594725" y="4572000"/>
            <a:ext cx="2336800" cy="87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1496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36FF60-D6AF-4E02-94BF-159AEBAB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Discussion - GWP and construction cost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0E305-69F1-4D49-9EE8-4171E021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Institute of Structural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70257-976F-476C-BBD0-A355A9A8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4AFD5-91FB-4C51-A58B-D62759E0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13F62-745D-4379-9780-231969DE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924ebb81e4151"/>
          <a:stretch xmlns:a="http://schemas.openxmlformats.org/drawingml/2006/main"/>
        </p:blipFill>
        <p:spPr>
          <a:xfrm xmlns:a="http://schemas.openxmlformats.org/drawingml/2006/main">
            <a:off x="666750" y="1776148"/>
            <a:ext cx="6667500" cy="2362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8CE21-4020-4553-9DF4-3709CD19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28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89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894"/>
                </a:solidFill>
                <a:latin typeface="Arial"/>
                <a:ea typeface="Arial"/>
                <a:cs typeface="Arial"/>
              </a:rPr>
              <a:t>Residential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FB3D9-99CB-40C1-96F6-86D80A1B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Weak correlation: r = 0.17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FB970-B569-45C6-A87D-B4EE0A0E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- Low-GWP timber is modelled as higher cost.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- Concrete tends to be cheaper but has higher GWP.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- TCC systems become compromise solutions.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1AD8D-C15C-4C3C-8205-B49931CC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C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5CAF"/>
                </a:solidFill>
                <a:latin typeface="Arial"/>
                <a:ea typeface="Arial"/>
                <a:cs typeface="Arial"/>
              </a:rPr>
              <a:t>Office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CF8C7-0092-4BA7-9973-95379834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148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Strong correlation: r = 0.96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D923C-7A84-444D-9A39-0414EE36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3867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- All systems are concrete-based.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- Material efficiency reduces both GWP and cost.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- Height remains the key counter-criterion.</a:t>
            </a:r>
          </a:p>
        </p:txBody>
      </p:sp>
    </p:spTree>
    <p:extLst>
      <p:ext uri="{BB962C8B-B14F-4D97-AF65-F5344CB8AC3E}">
        <p14:creationId xmlns:p14="http://schemas.microsoft.com/office/powerpoint/2010/main" val="120876041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B6E323-F221-4A1E-B016-EFC0B13D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Discussion - Relevant sustainability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67FEB-9FCD-42CC-AA71-8312DE31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Institute of Structural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B7F01-1E54-48CF-8C2F-008E1DE7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5599E-A9CB-47F8-B44C-3EFC9522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B9758-105F-4C24-9C70-8F43CCC6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FE454-C85B-4B70-A7B2-E3D40BF4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14450"/>
            <a:ext cx="3000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E340B-3A78-463B-BB0D-499F57EA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14450"/>
            <a:ext cx="3000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94"/>
          </a:solidFill>
          <a:ln xmlns:a="http://schemas.openxmlformats.org/drawingml/2006/main" w="9525">
            <a:solidFill>
              <a:srgbClr val="00789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EE15C-B5E3-49B7-B220-6B9FA4D3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38275"/>
            <a:ext cx="2733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6C37A-C9D5-4B61-99E0-F3D0C653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66950"/>
            <a:ext cx="2428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GWP</a:t>
            </a:r>
          </a:p>
          <a:p xmlns:a="http://schemas.openxmlformats.org/drawingml/2006/main">
            <a:pPr algn="ctr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Construction cost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C36F4-34C6-420A-B4CC-2F453998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14450"/>
            <a:ext cx="3000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73D7F-0E65-480A-BBCD-FAE17E0F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14450"/>
            <a:ext cx="3000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6713"/>
          </a:solidFill>
          <a:ln xmlns:a="http://schemas.openxmlformats.org/drawingml/2006/main" w="9525">
            <a:solidFill>
              <a:srgbClr val="8E671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3B796-5BAB-4151-B019-16416344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38275"/>
            <a:ext cx="2733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Boundary / project-specific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9765C-8AAF-4E21-945A-E1846058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2428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Height</a:t>
            </a:r>
          </a:p>
          <a:p xmlns:a="http://schemas.openxmlformats.org/drawingml/2006/main">
            <a:pPr algn="ctr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Construction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2E360-1604-4945-AA00-078C5532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14450"/>
            <a:ext cx="3000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632FE1-B47A-4815-9308-E66776C3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14450"/>
            <a:ext cx="3000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CAF"/>
          </a:solidFill>
          <a:ln xmlns:a="http://schemas.openxmlformats.org/drawingml/2006/main" w="9525">
            <a:solidFill>
              <a:srgbClr val="215C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7AC74-B6DD-40DB-AEE6-D47BA4F6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38275"/>
            <a:ext cx="2733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Context-dependent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BF917F-B2CF-4997-8972-F6DA8131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2428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Mass</a:t>
            </a:r>
          </a:p>
          <a:p xmlns:a="http://schemas.openxmlformats.org/drawingml/2006/main">
            <a:pPr algn="ctr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Material variation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980921-8134-4569-8983-9E8D9DE0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577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89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894"/>
                </a:solidFill>
                <a:latin typeface="Arial"/>
                <a:ea typeface="Arial"/>
                <a:cs typeface="Arial"/>
              </a:rPr>
              <a:t>The complete floor system matters: acoustic build-ups can change rankings, especially for timber and TCC residential systems.</a:t>
            </a:r>
          </a:p>
        </p:txBody>
      </p:sp>
    </p:spTree>
    <p:extLst>
      <p:ext uri="{BB962C8B-B14F-4D97-AF65-F5344CB8AC3E}">
        <p14:creationId xmlns:p14="http://schemas.microsoft.com/office/powerpoint/2010/main" val="5451102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BF8A2A-4F91-40E1-9B1A-B46D5D25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16331-CFE6-4BD9-A139-2088972E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Institute of Structural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F6E20-B9AB-4152-ACDA-8EAB1CEB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6767E-C494-4850-AFB0-AB727788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9EBEB-A8D1-4DF5-91B2-9159AA6D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0396F-9A0A-48AA-962D-93B231C2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43000"/>
            <a:ext cx="9906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- Results are early-stage comparison results, not final project-specific design recommendations.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- Application ranges depend on loads, span ranges, acoustic requirements, height constraints and construction processes.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- Cost and time models simplify fabrication, logistics and connection effort.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- Ribbed timber hollow-core results are sensitive to fire verification and insulation assumptions.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76133-AD4E-476C-86C2-8CEA3823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BFB5B-47EC-4C5F-896B-9C566298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 value of the configurator: a consistent, transparent decision basis for comparing feasible floor systems early.</a:t>
            </a:r>
          </a:p>
        </p:txBody>
      </p:sp>
    </p:spTree>
    <p:extLst>
      <p:ext uri="{BB962C8B-B14F-4D97-AF65-F5344CB8AC3E}">
        <p14:creationId xmlns:p14="http://schemas.microsoft.com/office/powerpoint/2010/main" val="79514951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9A512C-9A78-475D-8E1B-4AB17EDD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Conclusion and outlook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3E455-97DB-4ECB-9BAB-DB34DCAD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Institute of Structural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A37C8-9C4B-4833-90E5-2A60ED08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61D56-2515-46EE-9B9E-C6D39F69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F6468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F64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AFA88-7EAD-4625-8BF6-6FE69DC8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FAEB5-1CD2-4A60-BC80-3C12501C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89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894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3DDB5-8751-4C16-A569-E0FEA926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4953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- GWP and cost should be treated as primary criteria.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- Residential design contains a real ecological-economic trade-off.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- Office long-span design benefits from structural efficiency: post-tensioned and ribbed systems align cost and GWP.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- Floor height can decide whether a low-GWP system is actually usable.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A2014-C595-419E-90FA-8D9189C7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895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E671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E6713"/>
                </a:solidFill>
                <a:latin typeface="Arial"/>
                <a:ea typeface="Arial"/>
                <a:cs typeface="Arial"/>
              </a:rPr>
              <a:t>Outlook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57B77-ACE7-43AD-ACE4-4789C2A0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4191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- Improve fire verification and insulation data for timber hollow-core systems.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- Separate material, fabrication and installation in cost and time databases.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- Test sensitivity to changed loads, acoustic requirements and height limits.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00000"/>
                </a:solidFill>
                <a:latin typeface="Arial"/>
                <a:ea typeface="Arial"/>
                <a:cs typeface="Arial"/>
              </a:rPr>
              <a:t>- Develop a web interface for criterion weighting in practice.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17CDF7-7031-4CFC-ACFA-597CDD95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43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789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894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587620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2026-06-21T07:48:36.0000000Z</dcterms:created>
  <dcterms:modified xsi:type="dcterms:W3CDTF">2026-06-21T07:48:36.0000000Z</dcterms:modified>
</coreProperties>
</file>